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FE0307-80A1-4058-A38B-8417A0B7B6F9}">
  <a:tblStyle styleId="{90FE0307-80A1-4058-A38B-8417A0B7B6F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32e19ae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32e19ae5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10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35705" y="1493069"/>
            <a:ext cx="5520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IDENTITY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01402" y="3560775"/>
            <a:ext cx="658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1500"/>
              </a:spcBef>
              <a:spcAft>
                <a:spcPts val="1800"/>
              </a:spcAft>
              <a:buSzPts val="1100"/>
              <a:buNone/>
            </a:pPr>
            <a:r>
              <a:rPr lang="en-US" sz="1800">
                <a:solidFill>
                  <a:srgbClr val="00F5FF"/>
                </a:solidFill>
                <a:highlight>
                  <a:srgbClr val="0A0E1A"/>
                </a:highlight>
                <a:latin typeface="Inter"/>
                <a:ea typeface="Inter"/>
                <a:cs typeface="Inter"/>
                <a:sym typeface="Inter"/>
              </a:rPr>
              <a:t>Reviewing SSO, OAuth 2.0, and OpenID Connect</a:t>
            </a:r>
            <a:endParaRPr sz="1800">
              <a:solidFill>
                <a:srgbClr val="00F5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282231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Balancing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user friction and seamless, secure access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45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014537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F5FF"/>
                </a:solidFill>
                <a:latin typeface="Poppins"/>
                <a:ea typeface="Poppins"/>
                <a:cs typeface="Poppins"/>
                <a:sym typeface="Poppins"/>
              </a:rPr>
              <a:t>Core Definitions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406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244316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Authentication (AuthN):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Verifying identity. Does the user possess valid credentials? (e.g., "This is definitely Jane Doe").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35956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Authorization (AuthZ):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Verifying permissions. What is the user allowed to do? (e.g., "Jane can read files but not delete them").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74821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Dilemma: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Using the wrong tool leads to "leaky" security or a frustrating, fragmented user experience.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"Who Are You?" vs. "What Can You Do?"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43075"/>
            <a:ext cx="527685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43075"/>
            <a:ext cx="527685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238750"/>
            <a:ext cx="11029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71550" y="2133600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FF9C"/>
                </a:solidFill>
                <a:latin typeface="Poppins"/>
                <a:ea typeface="Poppins"/>
                <a:cs typeface="Poppins"/>
                <a:sym typeface="Poppins"/>
              </a:rPr>
              <a:t>Concept &amp; Mechanics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71550" y="2600325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One set of credentials to rule them all. Authenticate once, access everything across the network.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24650" y="2133600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FF9C"/>
                </a:solidFill>
                <a:latin typeface="Poppins"/>
                <a:ea typeface="Poppins"/>
                <a:cs typeface="Poppins"/>
                <a:sym typeface="Poppins"/>
              </a:rPr>
              <a:t>Pros &amp; Cons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24650" y="260032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Eliminates password fatigue and allows for centralized user offboarding.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340042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Single point of failure and complex trust configurations via Metadata/Certs.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61070" y="5429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16560" y="55911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29151" y="54768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89391" y="54768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49631" y="5476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247775" y="37052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352550" y="3705225"/>
            <a:ext cx="447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"Source of Truth" (Okta, Azure AD).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247775" y="4010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352550" y="4010025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Apps receiving the user.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Unified User Experience (SSO)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62025" y="771525"/>
            <a:ext cx="539067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OAuth 2.0 (The Valet Key)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71525" y="771525"/>
            <a:ext cx="57150" cy="12001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2856" t="0"/>
          <a:stretch/>
        </p:blipFill>
        <p:spPr>
          <a:xfrm>
            <a:off x="6352700" y="63025"/>
            <a:ext cx="5803875" cy="67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71525" y="2352675"/>
            <a:ext cx="55906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5FF"/>
                </a:solidFill>
                <a:latin typeface="Poppins"/>
                <a:ea typeface="Poppins"/>
                <a:cs typeface="Poppins"/>
                <a:sym typeface="Poppins"/>
              </a:rPr>
              <a:t>Delegated Authorization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71525" y="2876550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Allows an app to access data on behalf of a user without seeing their actual password.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39624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Scopes: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Granular permissions (read:profile).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4410075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Access Tokens: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Temporary digital passes.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4857750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Not an identity protocol; it knows if a token is valid, not who you are.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0147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462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9101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9700" y="2109787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49933"/>
            <a:ext cx="5276850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9225" y="2119312"/>
            <a:ext cx="3600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657975" y="2135683"/>
            <a:ext cx="49006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OAuth 2.0 + Identity Layer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657975" y="2621458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ID Token: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 signed JSON Web Token (JWT) containing user profile data and "Claims".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10350" y="440799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715125" y="4407991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Standardized "Userinfo" endpoints.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10350" y="480804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15125" y="4808041"/>
            <a:ext cx="48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Optimized for mobile and modern cloud environments.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10350" y="551289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15125" y="5512891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Highly secure, developer-friendly (JSON vs XML).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OpenID Connect: The Identity Layer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E1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81025" y="53197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0F5FF"/>
                </a:solidFill>
                <a:latin typeface="Inter"/>
                <a:ea typeface="Inter"/>
                <a:cs typeface="Inter"/>
                <a:sym typeface="Inter"/>
              </a:rPr>
              <a:t>Choose the protocol that matches your application's architecture and security requirements.</a:t>
            </a:r>
            <a:endParaRPr/>
          </a:p>
        </p:txBody>
      </p:sp>
      <p:graphicFrame>
        <p:nvGraphicFramePr>
          <p:cNvPr id="165" name="Google Shape;165;p18"/>
          <p:cNvGraphicFramePr/>
          <p:nvPr/>
        </p:nvGraphicFramePr>
        <p:xfrm>
          <a:off x="581025" y="2024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{90FE0307-80A1-4058-A38B-8417A0B7B6F9}</a:tableStyleId>
              </a:tblPr>
              <a:tblGrid>
                <a:gridCol w="2166500"/>
                <a:gridCol w="2884875"/>
                <a:gridCol w="2861675"/>
                <a:gridCol w="3116900"/>
              </a:tblGrid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SAML (Legacy SSO)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OAuth 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OpenID Connect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 Web Auth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Delegated Authorization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Modern Identity/AuthN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XML (Complex)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JSON (Lightweight)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JSON / JWT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Apps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Difficult / Clunky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Excellent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Standard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For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Internal Corporate Tools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 &amp; Resource 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Social Login / Modern SSO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18"/>
          <p:cNvSpPr/>
          <p:nvPr/>
        </p:nvSpPr>
        <p:spPr>
          <a:xfrm>
            <a:off x="581025" y="2657475"/>
            <a:ext cx="216649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747516" y="2657475"/>
            <a:ext cx="288488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632400" y="2657475"/>
            <a:ext cx="28616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494067" y="2657475"/>
            <a:ext cx="311690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1025" y="3248025"/>
            <a:ext cx="216649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747516" y="3248025"/>
            <a:ext cx="288488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632400" y="3248025"/>
            <a:ext cx="28616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494067" y="3248025"/>
            <a:ext cx="311690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81025" y="3838575"/>
            <a:ext cx="216649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747516" y="3838575"/>
            <a:ext cx="288488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632400" y="3838575"/>
            <a:ext cx="28616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494067" y="3838575"/>
            <a:ext cx="311690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81025" y="4429125"/>
            <a:ext cx="216649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2747516" y="4429125"/>
            <a:ext cx="288488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632400" y="4429125"/>
            <a:ext cx="28616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494067" y="4429125"/>
            <a:ext cx="311690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81025" y="5019675"/>
            <a:ext cx="216649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747516" y="5019675"/>
            <a:ext cx="288488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632400" y="5019675"/>
            <a:ext cx="28616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494067" y="5019675"/>
            <a:ext cx="311690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Comparative Analysis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81025" y="5182492"/>
            <a:ext cx="1103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F5FF"/>
                </a:solidFill>
                <a:latin typeface="Inter"/>
                <a:ea typeface="Inter"/>
                <a:cs typeface="Inter"/>
                <a:sym typeface="Inter"/>
              </a:rPr>
              <a:t>General Guidance</a:t>
            </a:r>
            <a:r>
              <a:rPr b="1" i="0" lang="en-US" sz="1350" u="none" cap="none" strike="noStrike">
                <a:solidFill>
                  <a:srgbClr val="00F5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Standardize on OIDC unless legacy constraints force SAML usage.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81025" y="4991992"/>
            <a:ext cx="11030100" cy="96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581025" y="20678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{90FE0307-80A1-4058-A38B-8417A0B7B6F9}</a:tableStyleId>
              </a:tblPr>
              <a:tblGrid>
                <a:gridCol w="1752750"/>
                <a:gridCol w="1325750"/>
                <a:gridCol w="1988650"/>
                <a:gridCol w="5943750"/>
              </a:tblGrid>
              <a:tr h="6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Best For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5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to 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C3D"/>
                    </a:solidFill>
                  </a:tcPr>
                </a:tc>
              </a:tr>
              <a:tr h="6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SAML (SSO)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Enterprise/Gov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Legacy apps, high-compliance, air-gapped networks.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OAuth 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 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Microservices, 3rd party data delegation (No Identity).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OIDC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JWT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Modern Web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Consumer apps, Mobile SSO, "Sign in with..." standards.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9"/>
          <p:cNvSpPr/>
          <p:nvPr/>
        </p:nvSpPr>
        <p:spPr>
          <a:xfrm>
            <a:off x="590550" y="2791717"/>
            <a:ext cx="1752600" cy="28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343298" y="2791717"/>
            <a:ext cx="1325700" cy="28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669059" y="2791717"/>
            <a:ext cx="1988700" cy="28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657701" y="2791717"/>
            <a:ext cx="5943600" cy="28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90550" y="3439417"/>
            <a:ext cx="17526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343298" y="3439417"/>
            <a:ext cx="13257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669059" y="3439417"/>
            <a:ext cx="19887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657701" y="3439417"/>
            <a:ext cx="59436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90550" y="4068067"/>
            <a:ext cx="17526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343298" y="4068067"/>
            <a:ext cx="13257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669059" y="4068067"/>
            <a:ext cx="19887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657701" y="4068067"/>
            <a:ext cx="5943600" cy="9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771525" y="581025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Choosing the Right Tool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81025" y="581025"/>
            <a:ext cx="57300" cy="600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2286000" y="230028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Adopt OpenID Connect (OIDC):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Make this the primary protocol for all new web and mobile applications to ensure future-proofing.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2286000" y="31480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Leverage OAuth 2.0: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Secure all internal microservices and third-party API integrations using scoped access tokens.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2286000" y="399573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Bridge Legacy Systems: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Retain SAML only where strictly necessary for older enterprise SaaS tools.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2286000" y="484346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FF"/>
                </a:solidFill>
                <a:latin typeface="Inter"/>
                <a:ea typeface="Inter"/>
                <a:cs typeface="Inter"/>
                <a:sym typeface="Inter"/>
              </a:rPr>
              <a:t>The Result: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scalable, mobile-ready, and developer-friendly identity ecosystem that balances security and UX.</a:t>
            </a:r>
            <a:endParaRPr/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28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765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024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8720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Solid </a:t>
            </a: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Path Forward for your Organization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581025" y="2156668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81025" y="3139529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81025" y="392430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81025" y="313000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81025" y="313000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81025" y="3914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81025" y="3914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81025" y="46995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81025" y="46995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052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1676400" y="2299543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https://media.istockphoto.com/id/1348086717/vector/cyber-security-icons-classic-line-series.jpg?s=612x612&amp;w=0&amp;k=20&amp;c=OZOw4dqt49IQRkozkyu7Fw_yUM3XkeEKLFiz3b23m2M=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1676400" y="274334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42" name="Google Shape;2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889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1676400" y="328240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https://miro.medium.com/1*S7x2vSIKsP7CsZblyS8wxw.png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676400" y="352811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245" name="Google Shape;24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737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1676400" y="406717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https://learn.microsoft.com/en-us/entra/identity-platform/media/v2-oauth2-on-behalf-of-flow/protocols-oauth-on-behalf-of-flow.png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676400" y="431289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learn.microsoft.com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576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1676400" y="485194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https://elements-resized.envatousercontent.com/elements-video-cover-images/files/86061893-2087-4aa6-9088-d340b5782e32/inline_image_preview.jpg?w=500&amp;cf_fit=cover&amp;q=85&amp;format=auto&amp;s=e631d9b34a493410f283a1a1d8066a9f0f6733405ad49799c1e953748085ec57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1676400" y="529575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elements.envato.com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